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9" r:id="rId11"/>
    <p:sldId id="267" r:id="rId12"/>
    <p:sldId id="268" r:id="rId13"/>
    <p:sldId id="264" r:id="rId14"/>
    <p:sldId id="266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43C5DD-D249-4F25-A7DB-1221E1959615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135D66-2BE7-4DA6-815C-834C84CCB2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55592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135D66-2BE7-4DA6-815C-834C84CCB228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52323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CD87A-6474-4DDE-B1D1-D4E2D303FE68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2E654-3AF0-4F75-9920-770EF88AA5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47648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CD87A-6474-4DDE-B1D1-D4E2D303FE68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2E654-3AF0-4F75-9920-770EF88AA5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4941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CD87A-6474-4DDE-B1D1-D4E2D303FE68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2E654-3AF0-4F75-9920-770EF88AA5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21095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CD87A-6474-4DDE-B1D1-D4E2D303FE68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2E654-3AF0-4F75-9920-770EF88AA5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07780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CD87A-6474-4DDE-B1D1-D4E2D303FE68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2E654-3AF0-4F75-9920-770EF88AA5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0592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CD87A-6474-4DDE-B1D1-D4E2D303FE68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2E654-3AF0-4F75-9920-770EF88AA5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19093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CD87A-6474-4DDE-B1D1-D4E2D303FE68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2E654-3AF0-4F75-9920-770EF88AA5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08197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CD87A-6474-4DDE-B1D1-D4E2D303FE68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2E654-3AF0-4F75-9920-770EF88AA5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89835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CD87A-6474-4DDE-B1D1-D4E2D303FE68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2E654-3AF0-4F75-9920-770EF88AA5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40797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CD87A-6474-4DDE-B1D1-D4E2D303FE68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2E654-3AF0-4F75-9920-770EF88AA5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52799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CD87A-6474-4DDE-B1D1-D4E2D303FE68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2E654-3AF0-4F75-9920-770EF88AA5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49700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CD87A-6474-4DDE-B1D1-D4E2D303FE68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2E654-3AF0-4F75-9920-770EF88AA5CF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544189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CD87A-6474-4DDE-B1D1-D4E2D303FE68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2E654-3AF0-4F75-9920-770EF88AA5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57587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CD87A-6474-4DDE-B1D1-D4E2D303FE68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2E654-3AF0-4F75-9920-770EF88AA5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98882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CD87A-6474-4DDE-B1D1-D4E2D303FE68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2E654-3AF0-4F75-9920-770EF88AA5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36740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CD87A-6474-4DDE-B1D1-D4E2D303FE68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2E654-3AF0-4F75-9920-770EF88AA5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48997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CD87A-6474-4DDE-B1D1-D4E2D303FE68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2E654-3AF0-4F75-9920-770EF88AA5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82889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2E0CD87A-6474-4DDE-B1D1-D4E2D303FE68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F2E654-3AF0-4F75-9920-770EF88AA5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886982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  <p:sldLayoutId id="2147483840" r:id="rId12"/>
    <p:sldLayoutId id="2147483841" r:id="rId13"/>
    <p:sldLayoutId id="2147483842" r:id="rId14"/>
    <p:sldLayoutId id="2147483843" r:id="rId15"/>
    <p:sldLayoutId id="2147483844" r:id="rId16"/>
    <p:sldLayoutId id="214748384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11C1119-3F87-60CF-F00F-7B633A3DFE63}"/>
              </a:ext>
            </a:extLst>
          </p:cNvPr>
          <p:cNvSpPr txBox="1"/>
          <p:nvPr/>
        </p:nvSpPr>
        <p:spPr>
          <a:xfrm>
            <a:off x="2542032" y="493776"/>
            <a:ext cx="6784848" cy="649188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AGENTIC EDGE ENERGY INTELLIGENCE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EB3979-EE75-4D6F-CD29-7BF0BFA23F54}"/>
              </a:ext>
            </a:extLst>
          </p:cNvPr>
          <p:cNvSpPr txBox="1"/>
          <p:nvPr/>
        </p:nvSpPr>
        <p:spPr>
          <a:xfrm>
            <a:off x="2441448" y="1728216"/>
            <a:ext cx="668426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b="1" dirty="0">
                <a:solidFill>
                  <a:schemeClr val="accent2">
                    <a:lumMod val="40000"/>
                    <a:lumOff val="60000"/>
                  </a:schemeClr>
                </a:solidFill>
                <a:latin typeface="Franklin Gothic Heavy" panose="020B0903020102020204" pitchFamily="34" charset="0"/>
              </a:rPr>
              <a:t>EcoPulse AI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65CE18-5190-07E7-E1FF-D283278DD26B}"/>
              </a:ext>
            </a:extLst>
          </p:cNvPr>
          <p:cNvSpPr txBox="1"/>
          <p:nvPr/>
        </p:nvSpPr>
        <p:spPr>
          <a:xfrm>
            <a:off x="1556004" y="3082909"/>
            <a:ext cx="9325356" cy="1430179"/>
          </a:xfrm>
          <a:prstGeom prst="round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pPr algn="ctr"/>
            <a:r>
              <a:rPr lang="en-US" sz="2000" dirty="0">
                <a:solidFill>
                  <a:schemeClr val="accent3">
                    <a:lumMod val="40000"/>
                    <a:lumOff val="60000"/>
                  </a:schemeClr>
                </a:solidFill>
                <a:latin typeface="Franklin Gothic Heavy" panose="020B0903020102020204" pitchFamily="34" charset="0"/>
              </a:rPr>
              <a:t>An edge-enabled agentic intelligence engine powered by IBM Granite models for automated campus energy monitoring, IoT relay control, and sustainability credit generation.</a:t>
            </a:r>
          </a:p>
          <a:p>
            <a:pPr algn="ctr"/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8DF1D0F-2331-FC2D-E621-9956388A13B8}"/>
              </a:ext>
            </a:extLst>
          </p:cNvPr>
          <p:cNvSpPr txBox="1"/>
          <p:nvPr/>
        </p:nvSpPr>
        <p:spPr>
          <a:xfrm>
            <a:off x="73153" y="4852524"/>
            <a:ext cx="12118848" cy="129266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   </a:t>
            </a:r>
            <a:r>
              <a:rPr lang="en-US" b="1" dirty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cs typeface="Arial"/>
              </a:rPr>
              <a:t>PRESENTED BY	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	                      </a:t>
            </a:r>
            <a:r>
              <a:rPr lang="en-US" b="1" dirty="0">
                <a:solidFill>
                  <a:schemeClr val="bg2">
                    <a:lumMod val="20000"/>
                    <a:lumOff val="80000"/>
                  </a:schemeClr>
                </a:solidFill>
                <a:latin typeface="Arial"/>
                <a:cs typeface="Arial"/>
              </a:rPr>
              <a:t>DEPARTMENT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 		                                         </a:t>
            </a:r>
            <a:r>
              <a:rPr lang="en-US" b="1" dirty="0">
                <a:solidFill>
                  <a:schemeClr val="bg2">
                    <a:lumMod val="20000"/>
                    <a:lumOff val="80000"/>
                  </a:schemeClr>
                </a:solidFill>
                <a:latin typeface="Arial"/>
                <a:cs typeface="Arial"/>
              </a:rPr>
              <a:t>COLLEGE NAME</a:t>
            </a:r>
          </a:p>
          <a:p>
            <a:pPr algn="ctr"/>
            <a:endParaRPr lang="en-US" sz="2000" b="1" dirty="0">
              <a:solidFill>
                <a:schemeClr val="accent1">
                  <a:lumMod val="75000"/>
                </a:schemeClr>
              </a:solidFill>
              <a:latin typeface="Arial"/>
              <a:cs typeface="Arial"/>
            </a:endParaRPr>
          </a:p>
          <a:p>
            <a:pPr algn="just"/>
            <a:r>
              <a:rPr lang="en-US" sz="2000" b="1" dirty="0">
                <a:solidFill>
                  <a:schemeClr val="bg1"/>
                </a:solidFill>
                <a:latin typeface="Arial"/>
                <a:cs typeface="Arial"/>
              </a:rPr>
              <a:t>   </a:t>
            </a:r>
            <a:r>
              <a:rPr lang="en-US" sz="1600" b="1" dirty="0">
                <a:latin typeface="Arial"/>
                <a:cs typeface="Arial"/>
              </a:rPr>
              <a:t>PRASHANT RAI	      </a:t>
            </a:r>
            <a:r>
              <a:rPr lang="en-US" sz="1600" b="1" dirty="0">
                <a:solidFill>
                  <a:schemeClr val="bg1"/>
                </a:solidFill>
                <a:latin typeface="Arial"/>
                <a:cs typeface="Arial"/>
              </a:rPr>
              <a:t>	                    </a:t>
            </a:r>
            <a:r>
              <a:rPr lang="en-US" sz="1600" b="1" dirty="0">
                <a:latin typeface="Arial"/>
                <a:cs typeface="Arial"/>
              </a:rPr>
              <a:t>B.Sc(Information Technology)</a:t>
            </a:r>
            <a:r>
              <a:rPr lang="en-US" sz="2000" b="1" dirty="0">
                <a:solidFill>
                  <a:schemeClr val="bg1"/>
                </a:solidFill>
                <a:latin typeface="Arial"/>
                <a:cs typeface="Arial"/>
              </a:rPr>
              <a:t>	                </a:t>
            </a:r>
            <a:r>
              <a:rPr lang="en-US" sz="1400" b="1" dirty="0">
                <a:solidFill>
                  <a:schemeClr val="bg2">
                    <a:lumMod val="20000"/>
                    <a:lumOff val="80000"/>
                  </a:schemeClr>
                </a:solidFill>
                <a:latin typeface="Arial"/>
                <a:cs typeface="Arial"/>
              </a:rPr>
              <a:t>BABASAHB BHIM RAO AMBEDKAR UNIVERSITY 																		        LUCKNOW ,UTTAR PRADESH</a:t>
            </a:r>
            <a:r>
              <a:rPr lang="en-US" sz="2000" b="1" dirty="0">
                <a:solidFill>
                  <a:schemeClr val="bg2">
                    <a:lumMod val="20000"/>
                    <a:lumOff val="80000"/>
                  </a:schemeClr>
                </a:solidFill>
                <a:latin typeface="Arial"/>
                <a:cs typeface="Arial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1802150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ED56A9F-BE68-AF4E-1D4D-A968EF75EB15}"/>
              </a:ext>
            </a:extLst>
          </p:cNvPr>
          <p:cNvSpPr txBox="1"/>
          <p:nvPr/>
        </p:nvSpPr>
        <p:spPr>
          <a:xfrm>
            <a:off x="621792" y="393192"/>
            <a:ext cx="66934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Plus Jakarta Sans"/>
              </a:rPr>
              <a:t>Problem Statement &amp; SDGs:</a:t>
            </a:r>
          </a:p>
        </p:txBody>
      </p:sp>
      <p:sp>
        <p:nvSpPr>
          <p:cNvPr id="6" name="Minus Sign 5">
            <a:extLst>
              <a:ext uri="{FF2B5EF4-FFF2-40B4-BE49-F238E27FC236}">
                <a16:creationId xmlns:a16="http://schemas.microsoft.com/office/drawing/2014/main" id="{10C58EDE-BCF9-D177-33E5-99D16B34E48B}"/>
              </a:ext>
            </a:extLst>
          </p:cNvPr>
          <p:cNvSpPr/>
          <p:nvPr/>
        </p:nvSpPr>
        <p:spPr>
          <a:xfrm rot="5400000">
            <a:off x="168016" y="475732"/>
            <a:ext cx="761248" cy="358140"/>
          </a:xfrm>
          <a:prstGeom prst="mathMinus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E7EF5E-0EE0-4C80-0F06-E39DF1D03F68}"/>
              </a:ext>
            </a:extLst>
          </p:cNvPr>
          <p:cNvSpPr txBox="1"/>
          <p:nvPr/>
        </p:nvSpPr>
        <p:spPr>
          <a:xfrm>
            <a:off x="292608" y="1956674"/>
            <a:ext cx="5486400" cy="2939812"/>
          </a:xfrm>
          <a:prstGeom prst="roundRect">
            <a:avLst/>
          </a:prstGeom>
          <a:noFill/>
          <a:ln>
            <a:solidFill>
              <a:schemeClr val="bg2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ts val="2025"/>
              </a:lnSpc>
            </a:pPr>
            <a:r>
              <a:rPr lang="en-US" sz="2000" b="1" dirty="0">
                <a:solidFill>
                  <a:schemeClr val="accent3"/>
                </a:solidFill>
                <a:latin typeface="Inter"/>
              </a:rPr>
              <a:t>Unattended Campus Waste: </a:t>
            </a:r>
            <a:r>
              <a:rPr lang="en-US" sz="2000" dirty="0">
                <a:latin typeface="Bodoni MT" panose="02070603080606020203" pitchFamily="18" charset="0"/>
              </a:rPr>
              <a:t>University classrooms and laboratories frequently leave lighting, fans, and AC units running during empty hours, causing huge energy waste.</a:t>
            </a:r>
          </a:p>
          <a:p>
            <a:pPr algn="ctr">
              <a:lnSpc>
                <a:spcPts val="2025"/>
              </a:lnSpc>
            </a:pPr>
            <a:endParaRPr lang="en-US" dirty="0">
              <a:latin typeface="Inter"/>
            </a:endParaRPr>
          </a:p>
          <a:p>
            <a:pPr algn="ctr">
              <a:lnSpc>
                <a:spcPts val="2025"/>
              </a:lnSpc>
            </a:pPr>
            <a:r>
              <a:rPr lang="en-US" b="1" dirty="0">
                <a:solidFill>
                  <a:srgbClr val="FFC000"/>
                </a:solidFill>
                <a:latin typeface="Inter"/>
              </a:rPr>
              <a:t>Lack of Visibility:</a:t>
            </a:r>
            <a:r>
              <a:rPr lang="en-US" dirty="0">
                <a:solidFill>
                  <a:srgbClr val="FFC000"/>
                </a:solidFill>
                <a:latin typeface="Inter"/>
              </a:rPr>
              <a:t> </a:t>
            </a:r>
            <a:r>
              <a:rPr lang="en-US" sz="2000" dirty="0">
                <a:latin typeface="Bodoni MT" panose="02070603080606020203" pitchFamily="18" charset="0"/>
              </a:rPr>
              <a:t>Department HODs lack real-time visibility into daily power consumption and actionable sustainability incentives to encourage departmental conservation.</a:t>
            </a:r>
          </a:p>
          <a:p>
            <a:pPr algn="ctr">
              <a:lnSpc>
                <a:spcPts val="2025"/>
              </a:lnSpc>
            </a:pPr>
            <a:endParaRPr lang="en-US" dirty="0">
              <a:latin typeface="Inter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02FE95-7E61-E760-2E28-5BAF90C8D528}"/>
              </a:ext>
            </a:extLst>
          </p:cNvPr>
          <p:cNvSpPr txBox="1"/>
          <p:nvPr/>
        </p:nvSpPr>
        <p:spPr>
          <a:xfrm>
            <a:off x="6620256" y="1956674"/>
            <a:ext cx="5001768" cy="2939812"/>
          </a:xfrm>
          <a:prstGeom prst="roundRect">
            <a:avLst/>
          </a:prstGeom>
          <a:noFill/>
          <a:ln>
            <a:solidFill>
              <a:schemeClr val="bg2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ts val="2025"/>
              </a:lnSpc>
            </a:pPr>
            <a:r>
              <a:rPr lang="en-US" dirty="0" err="1">
                <a:latin typeface="Bodoni MT" panose="02070603080606020203" pitchFamily="18" charset="0"/>
              </a:rPr>
              <a:t>EcoPulse</a:t>
            </a:r>
            <a:r>
              <a:rPr lang="en-US" dirty="0">
                <a:latin typeface="Bodoni MT" panose="02070603080606020203" pitchFamily="18" charset="0"/>
              </a:rPr>
              <a:t> AI directly contributes to the United Nations Sustainable Development Goals through automated agentic control and credit rewards:</a:t>
            </a:r>
          </a:p>
          <a:p>
            <a:pPr algn="ctr">
              <a:lnSpc>
                <a:spcPts val="2025"/>
              </a:lnSpc>
            </a:pPr>
            <a:endParaRPr lang="en-US" dirty="0">
              <a:latin typeface="Inter"/>
            </a:endParaRPr>
          </a:p>
          <a:p>
            <a:pPr marL="285750" indent="-285750" algn="ctr">
              <a:lnSpc>
                <a:spcPts val="2025"/>
              </a:lnSpc>
              <a:buClr>
                <a:schemeClr val="accent1">
                  <a:lumMod val="40000"/>
                  <a:lumOff val="60000"/>
                </a:schemeClr>
              </a:buClr>
              <a:buFont typeface="Wingdings" panose="05000000000000000000" pitchFamily="2" charset="2"/>
              <a:buChar char="q"/>
            </a:pPr>
            <a:r>
              <a:rPr lang="en-IN" b="1" dirty="0">
                <a:solidFill>
                  <a:srgbClr val="F8FAFC"/>
                </a:solidFill>
                <a:latin typeface="Arial Rounded MT Bold" panose="020F0704030504030204" pitchFamily="34" charset="0"/>
              </a:rPr>
              <a:t>SDG 7: Clean Energy</a:t>
            </a:r>
          </a:p>
          <a:p>
            <a:pPr marL="285750" indent="-285750" algn="ctr">
              <a:lnSpc>
                <a:spcPts val="2025"/>
              </a:lnSpc>
              <a:buClr>
                <a:schemeClr val="accent1">
                  <a:lumMod val="40000"/>
                  <a:lumOff val="60000"/>
                </a:schemeClr>
              </a:buClr>
              <a:buFont typeface="Wingdings" panose="05000000000000000000" pitchFamily="2" charset="2"/>
              <a:buChar char="q"/>
            </a:pPr>
            <a:r>
              <a:rPr lang="en-IN" b="1" dirty="0">
                <a:solidFill>
                  <a:srgbClr val="F8FAFC"/>
                </a:solidFill>
                <a:latin typeface="Arial Rounded MT Bold" panose="020F0704030504030204" pitchFamily="34" charset="0"/>
              </a:rPr>
              <a:t>SDG 11: Sustainable Cities</a:t>
            </a:r>
          </a:p>
          <a:p>
            <a:pPr marL="285750" indent="-285750" algn="ctr">
              <a:lnSpc>
                <a:spcPts val="2025"/>
              </a:lnSpc>
              <a:buClr>
                <a:schemeClr val="accent1">
                  <a:lumMod val="40000"/>
                  <a:lumOff val="60000"/>
                </a:schemeClr>
              </a:buClr>
              <a:buFont typeface="Wingdings" panose="05000000000000000000" pitchFamily="2" charset="2"/>
              <a:buChar char="q"/>
            </a:pPr>
            <a:r>
              <a:rPr lang="en-IN" b="1" dirty="0">
                <a:solidFill>
                  <a:srgbClr val="F8FAFC"/>
                </a:solidFill>
                <a:latin typeface="Arial Rounded MT Bold" panose="020F0704030504030204" pitchFamily="34" charset="0"/>
              </a:rPr>
              <a:t>SDG 13: Climate Action</a:t>
            </a:r>
          </a:p>
          <a:p>
            <a:pPr marL="285750" indent="-285750" algn="ctr">
              <a:lnSpc>
                <a:spcPts val="2025"/>
              </a:lnSpc>
              <a:buFont typeface="Wingdings" panose="05000000000000000000" pitchFamily="2" charset="2"/>
              <a:buChar char="q"/>
            </a:pPr>
            <a:endParaRPr lang="en-US" dirty="0">
              <a:latin typeface="Inter"/>
            </a:endParaRPr>
          </a:p>
          <a:p>
            <a:pPr algn="ctr">
              <a:lnSpc>
                <a:spcPts val="2025"/>
              </a:lnSpc>
            </a:pPr>
            <a:endParaRPr lang="en-US" dirty="0"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9306914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C122D7-FB70-3EFE-65CB-0DED229BFB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AB98983-07D4-BAC4-8B07-CDBAC4EBBA84}"/>
              </a:ext>
            </a:extLst>
          </p:cNvPr>
          <p:cNvSpPr txBox="1"/>
          <p:nvPr/>
        </p:nvSpPr>
        <p:spPr>
          <a:xfrm>
            <a:off x="786384" y="457200"/>
            <a:ext cx="41422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F8FAFC"/>
                </a:solidFill>
                <a:latin typeface="Plus Jakarta Sans"/>
              </a:rPr>
              <a:t>AI Solution Overview: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2E89F7-6DD8-366A-C246-064EAFDCD6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464" y="476420"/>
            <a:ext cx="74920" cy="504000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143E94F-AFD8-87B3-947E-9EAC8A699588}"/>
              </a:ext>
            </a:extLst>
          </p:cNvPr>
          <p:cNvSpPr/>
          <p:nvPr/>
        </p:nvSpPr>
        <p:spPr>
          <a:xfrm>
            <a:off x="219456" y="2011680"/>
            <a:ext cx="3831336" cy="280720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3d extrusionH="57150">
              <a:bevelT w="38100" h="38100"/>
            </a:sp3d>
          </a:bodyPr>
          <a:lstStyle/>
          <a:p>
            <a:pPr marL="457200" indent="-457200" algn="ctr">
              <a:buAutoNum type="arabicPeriod"/>
            </a:pPr>
            <a:r>
              <a:rPr lang="en-IN" sz="2400" b="1" dirty="0">
                <a:solidFill>
                  <a:schemeClr val="bg1"/>
                </a:solidFill>
                <a:latin typeface="Plus Jakarta Sans"/>
              </a:rPr>
              <a:t>Vision Frame</a:t>
            </a:r>
          </a:p>
          <a:p>
            <a:pPr algn="ctr"/>
            <a:endParaRPr lang="en-IN" sz="1050" b="1" dirty="0">
              <a:solidFill>
                <a:schemeClr val="bg1"/>
              </a:solidFill>
              <a:latin typeface="Plus Jakarta Sans"/>
            </a:endParaRPr>
          </a:p>
          <a:p>
            <a:pPr algn="ctr"/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Multimodal vision analysis processing CCTV frames and digital meter displays to extract occupancy status and kWh metrics on the edge.</a:t>
            </a:r>
            <a:endParaRPr lang="en-IN" sz="2000" b="1" dirty="0">
              <a:solidFill>
                <a:schemeClr val="accent1">
                  <a:lumMod val="75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52D343E-6AA8-188B-C320-EB7F080671F3}"/>
              </a:ext>
            </a:extLst>
          </p:cNvPr>
          <p:cNvSpPr/>
          <p:nvPr/>
        </p:nvSpPr>
        <p:spPr>
          <a:xfrm>
            <a:off x="4223004" y="2002536"/>
            <a:ext cx="3831336" cy="280720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3d extrusionH="57150">
              <a:bevelT w="38100" h="38100"/>
            </a:sp3d>
          </a:bodyPr>
          <a:lstStyle/>
          <a:p>
            <a:pPr algn="ctr"/>
            <a:r>
              <a:rPr lang="en-IN" sz="2400" b="1" dirty="0">
                <a:solidFill>
                  <a:schemeClr val="bg1"/>
                </a:solidFill>
              </a:rPr>
              <a:t>2. IoT </a:t>
            </a:r>
            <a:r>
              <a:rPr lang="en-IN" sz="2400" b="1" dirty="0">
                <a:solidFill>
                  <a:schemeClr val="bg1"/>
                </a:solidFill>
                <a:latin typeface="Plus Jakarta Sans"/>
              </a:rPr>
              <a:t>State</a:t>
            </a:r>
            <a:r>
              <a:rPr lang="en-IN" sz="2400" b="1" dirty="0">
                <a:solidFill>
                  <a:schemeClr val="bg1"/>
                </a:solidFill>
              </a:rPr>
              <a:t> Event</a:t>
            </a:r>
            <a:endParaRPr lang="en-IN" sz="2400" dirty="0">
              <a:solidFill>
                <a:schemeClr val="bg1"/>
              </a:solidFill>
            </a:endParaRPr>
          </a:p>
          <a:p>
            <a:pPr algn="ctr"/>
            <a:endParaRPr lang="en-IN" sz="1050" b="1" dirty="0">
              <a:solidFill>
                <a:schemeClr val="bg1"/>
              </a:solidFill>
              <a:latin typeface="Plus Jakarta Sans"/>
            </a:endParaRPr>
          </a:p>
          <a:p>
            <a:pPr algn="ctr">
              <a:lnSpc>
                <a:spcPts val="2025"/>
              </a:lnSpc>
            </a:pP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Agentic control workflow monitoring occupancy trends to issue real-time MQTT commands (POWER_ON / POWER_OFF) to room relays.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F7FA73F-75A5-9E32-77BA-C385CA764861}"/>
              </a:ext>
            </a:extLst>
          </p:cNvPr>
          <p:cNvSpPr/>
          <p:nvPr/>
        </p:nvSpPr>
        <p:spPr>
          <a:xfrm>
            <a:off x="8226552" y="1924812"/>
            <a:ext cx="3831336" cy="280720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3d extrusionH="57150">
              <a:bevelT w="38100" h="38100"/>
            </a:sp3d>
          </a:bodyPr>
          <a:lstStyle/>
          <a:p>
            <a:pPr algn="ctr"/>
            <a:r>
              <a:rPr lang="en-IN" sz="2400" b="1" dirty="0">
                <a:solidFill>
                  <a:schemeClr val="bg1"/>
                </a:solidFill>
                <a:latin typeface="Plus Jakarta Sans"/>
              </a:rPr>
              <a:t>3. EOD Report &amp; RAG</a:t>
            </a:r>
          </a:p>
          <a:p>
            <a:pPr algn="ctr"/>
            <a:endParaRPr lang="en-IN" sz="1050" b="1" dirty="0">
              <a:solidFill>
                <a:schemeClr val="bg1"/>
              </a:solidFill>
              <a:latin typeface="Plus Jakarta Sans"/>
            </a:endParaRPr>
          </a:p>
          <a:p>
            <a:pPr algn="ctr">
              <a:lnSpc>
                <a:spcPts val="2025"/>
              </a:lnSpc>
            </a:pP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RAG-driven baseline energy comparison, automated sustainability credit allocation, and executive markdown reports for HODs.</a:t>
            </a:r>
          </a:p>
        </p:txBody>
      </p:sp>
    </p:spTree>
    <p:extLst>
      <p:ext uri="{BB962C8B-B14F-4D97-AF65-F5344CB8AC3E}">
        <p14:creationId xmlns:p14="http://schemas.microsoft.com/office/powerpoint/2010/main" val="33030592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3576B5-0A5D-16A1-9281-D8D6DA804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C82AD7F-9995-743C-AE9B-7AAB033259CF}"/>
              </a:ext>
            </a:extLst>
          </p:cNvPr>
          <p:cNvSpPr txBox="1"/>
          <p:nvPr/>
        </p:nvSpPr>
        <p:spPr>
          <a:xfrm>
            <a:off x="658368" y="429768"/>
            <a:ext cx="54376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F8FAFC"/>
                </a:solidFill>
                <a:latin typeface="Plus Jakarta Sans"/>
              </a:rPr>
              <a:t>System Architecture &amp; Flow: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889D9C-F066-038B-515D-BC18E1AF46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908" y="448988"/>
            <a:ext cx="74920" cy="504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C20B431-6EB7-AFE0-C77D-C6E6F1FE78BA}"/>
              </a:ext>
            </a:extLst>
          </p:cNvPr>
          <p:cNvSpPr txBox="1"/>
          <p:nvPr/>
        </p:nvSpPr>
        <p:spPr>
          <a:xfrm>
            <a:off x="310012" y="1271587"/>
            <a:ext cx="7296912" cy="4699159"/>
          </a:xfrm>
          <a:prstGeom prst="round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Plus Jakarta Sans"/>
              </a:rPr>
              <a:t>Edge-Enabled Data Pipeline:</a:t>
            </a:r>
          </a:p>
          <a:p>
            <a:endParaRPr lang="en-IN" sz="2400" b="1" dirty="0">
              <a:solidFill>
                <a:schemeClr val="accent3">
                  <a:lumMod val="60000"/>
                  <a:lumOff val="40000"/>
                </a:schemeClr>
              </a:solidFill>
              <a:latin typeface="Plus Jakarta Sans"/>
            </a:endParaRPr>
          </a:p>
          <a:p>
            <a:pPr marL="342900" indent="-342900"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ü"/>
            </a:pPr>
            <a:r>
              <a:rPr lang="en-US" sz="2400" b="1" dirty="0">
                <a:solidFill>
                  <a:srgbClr val="E2E8F0"/>
                </a:solidFill>
                <a:latin typeface="Inter"/>
              </a:rPr>
              <a:t>Edge Ingestion:</a:t>
            </a:r>
            <a:r>
              <a:rPr lang="en-US" sz="2400" dirty="0">
                <a:solidFill>
                  <a:srgbClr val="94A3B8"/>
                </a:solidFill>
                <a:latin typeface="Inter"/>
              </a:rPr>
              <a:t> </a:t>
            </a:r>
            <a:r>
              <a:rPr lang="en-US" dirty="0">
                <a:solidFill>
                  <a:schemeClr val="accent3"/>
                </a:solidFill>
                <a:latin typeface="Inter"/>
              </a:rPr>
              <a:t>IP cameras &amp; smart meters stream visual frames to local IBM Granite 7B/13B models.</a:t>
            </a:r>
          </a:p>
          <a:p>
            <a:pPr marL="342900" indent="-342900"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ü"/>
            </a:pPr>
            <a:endParaRPr lang="en-US" dirty="0">
              <a:solidFill>
                <a:schemeClr val="accent3"/>
              </a:solidFill>
              <a:latin typeface="Inter"/>
            </a:endParaRPr>
          </a:p>
          <a:p>
            <a:pPr marL="342900" indent="-342900"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ü"/>
            </a:pPr>
            <a:r>
              <a:rPr lang="en-US" sz="2400" b="1" dirty="0">
                <a:solidFill>
                  <a:srgbClr val="E2E8F0"/>
                </a:solidFill>
                <a:latin typeface="Inter"/>
              </a:rPr>
              <a:t>Agentic Decisions:</a:t>
            </a:r>
            <a:r>
              <a:rPr lang="en-US" sz="2400" dirty="0">
                <a:solidFill>
                  <a:srgbClr val="94A3B8"/>
                </a:solidFill>
                <a:latin typeface="Inter"/>
              </a:rPr>
              <a:t> </a:t>
            </a:r>
            <a:r>
              <a:rPr lang="en-US" dirty="0">
                <a:solidFill>
                  <a:schemeClr val="accent3"/>
                </a:solidFill>
                <a:latin typeface="Inter"/>
              </a:rPr>
              <a:t>Instant evaluation of occupancy duration triggers automated MQTT relay rules.</a:t>
            </a:r>
          </a:p>
          <a:p>
            <a:pPr marL="342900" indent="-342900"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ü"/>
            </a:pPr>
            <a:endParaRPr lang="en-US" dirty="0">
              <a:solidFill>
                <a:schemeClr val="accent3"/>
              </a:solidFill>
              <a:latin typeface="Inter"/>
            </a:endParaRPr>
          </a:p>
          <a:p>
            <a:pPr marL="342900" indent="-342900"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ü"/>
            </a:pPr>
            <a:r>
              <a:rPr lang="en-IN" sz="2400" b="1" dirty="0">
                <a:solidFill>
                  <a:srgbClr val="E2E8F0"/>
                </a:solidFill>
                <a:latin typeface="Inter"/>
              </a:rPr>
              <a:t>RAG Storage:</a:t>
            </a:r>
            <a:r>
              <a:rPr lang="en-IN" sz="2400" dirty="0">
                <a:solidFill>
                  <a:srgbClr val="94A3B8"/>
                </a:solidFill>
                <a:latin typeface="Inter"/>
              </a:rPr>
              <a:t> </a:t>
            </a:r>
            <a:r>
              <a:rPr lang="en-IN" dirty="0">
                <a:solidFill>
                  <a:schemeClr val="accent3"/>
                </a:solidFill>
                <a:latin typeface="Inter"/>
              </a:rPr>
              <a:t>SQLite/PostgreSQL ledger tracks room baselines vs actual monitored kWh daily logs.</a:t>
            </a:r>
          </a:p>
          <a:p>
            <a:pPr marL="342900" indent="-342900"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ü"/>
            </a:pPr>
            <a:endParaRPr lang="en-US" dirty="0">
              <a:solidFill>
                <a:schemeClr val="accent3"/>
              </a:solidFill>
              <a:latin typeface="Inter"/>
            </a:endParaRPr>
          </a:p>
          <a:p>
            <a:pPr marL="342900" indent="-342900"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ü"/>
            </a:pPr>
            <a:r>
              <a:rPr lang="en-US" sz="2400" b="1" dirty="0">
                <a:solidFill>
                  <a:srgbClr val="E2E8F0"/>
                </a:solidFill>
                <a:latin typeface="Inter"/>
              </a:rPr>
              <a:t>Executive Deliverables:</a:t>
            </a:r>
            <a:r>
              <a:rPr lang="en-US" sz="2400" dirty="0">
                <a:solidFill>
                  <a:srgbClr val="94A3B8"/>
                </a:solidFill>
                <a:latin typeface="Inter"/>
              </a:rPr>
              <a:t> </a:t>
            </a:r>
            <a:r>
              <a:rPr lang="en-US" dirty="0">
                <a:solidFill>
                  <a:schemeClr val="accent3"/>
                </a:solidFill>
                <a:latin typeface="Inter"/>
              </a:rPr>
              <a:t>Jinja2 templates generate executive emails with Green Marketplace redemption options.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6926D9B-0389-C1A0-97DF-D0CF4803B0E3}"/>
              </a:ext>
            </a:extLst>
          </p:cNvPr>
          <p:cNvPicPr preferRelativeResize="0">
            <a:picLocks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7236" y="1410187"/>
            <a:ext cx="4132194" cy="4761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72700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5739F9-3CFF-51B1-1E39-F411CF606E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D20E072-8EBF-F509-6746-D538AEBC5517}"/>
              </a:ext>
            </a:extLst>
          </p:cNvPr>
          <p:cNvSpPr txBox="1"/>
          <p:nvPr/>
        </p:nvSpPr>
        <p:spPr>
          <a:xfrm>
            <a:off x="923544" y="329184"/>
            <a:ext cx="49834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F8FAFC"/>
                </a:solidFill>
                <a:latin typeface="Plus Jakarta Sans"/>
              </a:rPr>
              <a:t>Agent Logic &amp; Control Rules: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7296FD-E4CB-F442-9293-1659EEDFB3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008" y="347579"/>
            <a:ext cx="76200" cy="5048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63A7A20-6C1A-4F4D-D614-DF041313D704}"/>
              </a:ext>
            </a:extLst>
          </p:cNvPr>
          <p:cNvSpPr txBox="1"/>
          <p:nvPr/>
        </p:nvSpPr>
        <p:spPr>
          <a:xfrm>
            <a:off x="902208" y="1444752"/>
            <a:ext cx="10488168" cy="1072634"/>
          </a:xfrm>
          <a:prstGeom prst="roundRect">
            <a:avLst/>
          </a:prstGeom>
          <a:noFill/>
          <a:ln>
            <a:solidFill>
              <a:schemeClr val="accent3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sz="2100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Vision Processing &amp; Confidence Thresholding:</a:t>
            </a:r>
            <a:r>
              <a:rPr lang="en-IN" sz="21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 </a:t>
            </a:r>
            <a:r>
              <a:rPr lang="en-IN" dirty="0"/>
              <a:t>High confidence detection (≥ 0.70) classifies room status. Handles both human occupancy detection and OCR extraction from digital smart meters.</a:t>
            </a:r>
            <a:endParaRPr lang="en-IN" dirty="0">
              <a:effectLst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A2F1EF-6656-B6B0-1BFA-84C6F85D4A42}"/>
              </a:ext>
            </a:extLst>
          </p:cNvPr>
          <p:cNvSpPr txBox="1"/>
          <p:nvPr/>
        </p:nvSpPr>
        <p:spPr>
          <a:xfrm>
            <a:off x="923544" y="2724007"/>
            <a:ext cx="10488168" cy="766167"/>
          </a:xfrm>
          <a:prstGeom prst="roundRect">
            <a:avLst/>
          </a:prstGeom>
          <a:noFill/>
          <a:ln>
            <a:solidFill>
              <a:schemeClr val="accent3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sz="2100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Rule 1 (Unoccupied Power Cut):</a:t>
            </a:r>
            <a:r>
              <a:rPr lang="en-IN" sz="21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 </a:t>
            </a:r>
            <a:r>
              <a:rPr lang="en-IN" dirty="0"/>
              <a:t>If occupancy_detected == false for ≥ 60 seconds and current power state is ON → Agent issues immediate POWER_OFF MQTT relay command.</a:t>
            </a:r>
            <a:endParaRPr lang="en-IN" sz="2400" dirty="0">
              <a:effectLst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314ECF9-C0E8-AE8A-20D6-1E06C25F0636}"/>
              </a:ext>
            </a:extLst>
          </p:cNvPr>
          <p:cNvSpPr txBox="1"/>
          <p:nvPr/>
        </p:nvSpPr>
        <p:spPr>
          <a:xfrm>
            <a:off x="902208" y="3721608"/>
            <a:ext cx="10488168" cy="766167"/>
          </a:xfrm>
          <a:prstGeom prst="roundRect">
            <a:avLst/>
          </a:prstGeom>
          <a:noFill/>
          <a:ln>
            <a:solidFill>
              <a:schemeClr val="accent3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sz="2100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Rule 2 (Occupancy Restoration):</a:t>
            </a:r>
            <a:r>
              <a:rPr lang="en-IN" sz="21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 </a:t>
            </a:r>
            <a:r>
              <a:rPr lang="en-IN" dirty="0"/>
              <a:t>If occupancy_detected == true and current power state is OFF → Agent issues immediate POWER_ON command to restore lights and AC.</a:t>
            </a:r>
            <a:endParaRPr lang="en-IN" sz="2400" dirty="0">
              <a:effectLst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F8142DE-A9AC-7A58-B82E-98F56DE74FDF}"/>
              </a:ext>
            </a:extLst>
          </p:cNvPr>
          <p:cNvSpPr txBox="1"/>
          <p:nvPr/>
        </p:nvSpPr>
        <p:spPr>
          <a:xfrm>
            <a:off x="923544" y="4719209"/>
            <a:ext cx="10488168" cy="688629"/>
          </a:xfrm>
          <a:prstGeom prst="roundRect">
            <a:avLst/>
          </a:prstGeom>
          <a:noFill/>
          <a:ln>
            <a:solidFill>
              <a:schemeClr val="accent3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ts val="2025"/>
              </a:lnSpc>
            </a:pPr>
            <a:r>
              <a:rPr lang="en-US" sz="21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+mj-lt"/>
              </a:rPr>
              <a:t>MQTT </a:t>
            </a:r>
            <a:r>
              <a:rPr lang="en-US" sz="21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Century Gothic (body)"/>
              </a:rPr>
              <a:t>Protocol</a:t>
            </a:r>
            <a:r>
              <a:rPr lang="en-US" sz="21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+mj-lt"/>
              </a:rPr>
              <a:t> </a:t>
            </a:r>
            <a:r>
              <a:rPr lang="en-US" sz="21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Century Gothic (body)"/>
              </a:rPr>
              <a:t>Standards</a:t>
            </a:r>
            <a:r>
              <a:rPr lang="en-US" sz="21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+mj-lt"/>
              </a:rPr>
              <a:t>:</a:t>
            </a:r>
            <a:r>
              <a:rPr lang="en-US" sz="2100" dirty="0">
                <a:solidFill>
                  <a:schemeClr val="bg2">
                    <a:lumMod val="60000"/>
                    <a:lumOff val="40000"/>
                  </a:schemeClr>
                </a:solidFill>
                <a:latin typeface="+mj-lt"/>
              </a:rPr>
              <a:t> </a:t>
            </a:r>
            <a:r>
              <a:rPr lang="en-US" sz="2400" dirty="0">
                <a:solidFill>
                  <a:srgbClr val="CBD5E1"/>
                </a:solidFill>
                <a:latin typeface="Inter"/>
              </a:rPr>
              <a:t>Published to campus/room/{</a:t>
            </a:r>
            <a:r>
              <a:rPr lang="en-US" sz="2400" dirty="0" err="1">
                <a:solidFill>
                  <a:srgbClr val="CBD5E1"/>
                </a:solidFill>
                <a:latin typeface="Inter"/>
              </a:rPr>
              <a:t>room_id</a:t>
            </a:r>
            <a:r>
              <a:rPr lang="en-US" sz="2400" dirty="0">
                <a:solidFill>
                  <a:srgbClr val="CBD5E1"/>
                </a:solidFill>
                <a:latin typeface="Inter"/>
              </a:rPr>
              <a:t>}/relay topic using QoS 1 (at-least-once) to guarantee delivery across campus networks.</a:t>
            </a:r>
          </a:p>
        </p:txBody>
      </p:sp>
    </p:spTree>
    <p:extLst>
      <p:ext uri="{BB962C8B-B14F-4D97-AF65-F5344CB8AC3E}">
        <p14:creationId xmlns:p14="http://schemas.microsoft.com/office/powerpoint/2010/main" val="15509190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AF09DC-52BE-85A7-4211-30E226E001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292491D-1F36-85C0-CFE1-9CC0F1ACF776}"/>
              </a:ext>
            </a:extLst>
          </p:cNvPr>
          <p:cNvSpPr txBox="1"/>
          <p:nvPr/>
        </p:nvSpPr>
        <p:spPr>
          <a:xfrm>
            <a:off x="859536" y="402336"/>
            <a:ext cx="46085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F8FAFC"/>
                </a:solidFill>
                <a:latin typeface="Plus Jakarta Sans"/>
              </a:rPr>
              <a:t>RAG Engine &amp; Credit System: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8CD943-AF68-1437-4493-EC78ACEFD4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336" y="411533"/>
            <a:ext cx="76200" cy="504825"/>
          </a:xfrm>
          <a:prstGeom prst="rect">
            <a:avLst/>
          </a:prstGeom>
        </p:spPr>
      </p:pic>
      <p:sp>
        <p:nvSpPr>
          <p:cNvPr id="6" name="Rounded Rectangle 3">
            <a:extLst>
              <a:ext uri="{FF2B5EF4-FFF2-40B4-BE49-F238E27FC236}">
                <a16:creationId xmlns:a16="http://schemas.microsoft.com/office/drawing/2014/main" id="{B4702810-8D05-2BD8-EB40-410BA2DC64C1}"/>
              </a:ext>
            </a:extLst>
          </p:cNvPr>
          <p:cNvSpPr/>
          <p:nvPr/>
        </p:nvSpPr>
        <p:spPr>
          <a:xfrm>
            <a:off x="745426" y="2470594"/>
            <a:ext cx="4836795" cy="1771650"/>
          </a:xfrm>
          <a:prstGeom prst="roundRect">
            <a:avLst>
              <a:gd name="adj" fmla="val 8602"/>
            </a:avLst>
          </a:prstGeom>
          <a:solidFill>
            <a:srgbClr val="162C39"/>
          </a:solidFill>
          <a:ln w="9525">
            <a:solidFill>
              <a:srgbClr val="163F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200" dirty="0">
                <a:latin typeface="Arial Rounded MT Bold" panose="020F0704030504030204" pitchFamily="34" charset="0"/>
              </a:rPr>
              <a:t>10</a:t>
            </a:r>
          </a:p>
          <a:p>
            <a:pPr algn="ctr"/>
            <a:r>
              <a:rPr lang="en-IN" sz="2000" b="1" dirty="0">
                <a:solidFill>
                  <a:srgbClr val="F8FAFC"/>
                </a:solidFill>
                <a:latin typeface="Inter"/>
              </a:rPr>
              <a:t>Credits Earned / kWh Saved</a:t>
            </a:r>
          </a:p>
          <a:p>
            <a:pPr algn="ctr"/>
            <a:endParaRPr sz="2000" dirty="0">
              <a:latin typeface="Arial Rounded MT Bold" panose="020F07040305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196984-018F-3C98-D2DF-42D5FC3DFE96}"/>
              </a:ext>
            </a:extLst>
          </p:cNvPr>
          <p:cNvSpPr txBox="1"/>
          <p:nvPr/>
        </p:nvSpPr>
        <p:spPr>
          <a:xfrm>
            <a:off x="5897880" y="1156037"/>
            <a:ext cx="6053328" cy="4545925"/>
          </a:xfrm>
          <a:prstGeom prst="roundRect">
            <a:avLst/>
          </a:prstGeom>
          <a:solidFill>
            <a:schemeClr val="accent5">
              <a:lumMod val="7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 i="0" u="none" dirty="0">
                <a:solidFill>
                  <a:schemeClr val="accent3">
                    <a:lumMod val="40000"/>
                    <a:lumOff val="60000"/>
                  </a:schemeClr>
                </a:solidFill>
                <a:latin typeface="Plus Jakarta Sans"/>
              </a:rPr>
              <a:t>RAG Baseline Math &amp; Ledger</a:t>
            </a:r>
            <a:r>
              <a:rPr lang="en-IN" sz="2200" b="1" i="0" u="none" dirty="0">
                <a:solidFill>
                  <a:schemeClr val="accent3">
                    <a:lumMod val="40000"/>
                    <a:lumOff val="60000"/>
                  </a:schemeClr>
                </a:solidFill>
                <a:latin typeface="Plus Jakarta Sans"/>
              </a:rPr>
              <a:t>: </a:t>
            </a:r>
          </a:p>
          <a:p>
            <a:pPr algn="ctr"/>
            <a:endParaRPr lang="en-IN" sz="700" b="1" dirty="0">
              <a:solidFill>
                <a:schemeClr val="tx2"/>
              </a:solidFill>
              <a:latin typeface="Plus Jakarta Sans"/>
            </a:endParaRPr>
          </a:p>
          <a:p>
            <a:pPr algn="ctr"/>
            <a:r>
              <a:rPr lang="en-US" sz="2400" dirty="0">
                <a:latin typeface="Inter"/>
              </a:rPr>
              <a:t>The RAG agent compares database baselines against actual daily smart meter logs to calculate financial and carbon impact:</a:t>
            </a:r>
          </a:p>
          <a:p>
            <a:pPr algn="ctr"/>
            <a:endParaRPr lang="en-US" sz="2400" dirty="0">
              <a:latin typeface="Inter"/>
            </a:endParaRPr>
          </a:p>
          <a:p>
            <a:pPr algn="ctr"/>
            <a:r>
              <a:rPr lang="en-US" sz="2400" dirty="0">
                <a:highlight>
                  <a:srgbClr val="000000"/>
                </a:highlight>
                <a:latin typeface="Inter"/>
              </a:rPr>
              <a:t>   Energy Saved (kwh)= Baseline – Actual Usage        </a:t>
            </a:r>
          </a:p>
          <a:p>
            <a:pPr algn="ctr"/>
            <a:endParaRPr lang="en-US" sz="2400" dirty="0">
              <a:latin typeface="Inter"/>
            </a:endParaRPr>
          </a:p>
          <a:p>
            <a:pPr algn="ctr"/>
            <a:r>
              <a:rPr lang="en-US" sz="2400" dirty="0">
                <a:highlight>
                  <a:srgbClr val="000000"/>
                </a:highlight>
                <a:latin typeface="Inter"/>
              </a:rPr>
              <a:t>  CO2 Reduced(kg) = Energy Saved x 0.85    </a:t>
            </a:r>
          </a:p>
          <a:p>
            <a:pPr algn="ctr"/>
            <a:endParaRPr lang="en-US" sz="2400" dirty="0">
              <a:latin typeface="Inter"/>
            </a:endParaRPr>
          </a:p>
          <a:p>
            <a:pPr algn="ctr"/>
            <a:r>
              <a:rPr lang="en-IN" sz="2200" b="1" i="0" u="none" dirty="0">
                <a:solidFill>
                  <a:schemeClr val="tx2"/>
                </a:solidFill>
                <a:latin typeface="Plus Jakarta Sans"/>
              </a:rPr>
              <a:t> </a:t>
            </a:r>
            <a:endParaRPr sz="2200" b="1" i="0" u="none" dirty="0">
              <a:solidFill>
                <a:schemeClr val="tx2"/>
              </a:solidFill>
              <a:latin typeface="Plus Jakarta Sans"/>
            </a:endParaRPr>
          </a:p>
        </p:txBody>
      </p:sp>
    </p:spTree>
    <p:extLst>
      <p:ext uri="{BB962C8B-B14F-4D97-AF65-F5344CB8AC3E}">
        <p14:creationId xmlns:p14="http://schemas.microsoft.com/office/powerpoint/2010/main" val="23957682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CFD61D-6E34-CAB1-13AF-53F4CDD3B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EE83CF4-4AC6-48C2-A63D-C1B9B7DF3D1C}"/>
              </a:ext>
            </a:extLst>
          </p:cNvPr>
          <p:cNvSpPr txBox="1"/>
          <p:nvPr/>
        </p:nvSpPr>
        <p:spPr>
          <a:xfrm>
            <a:off x="969264" y="457200"/>
            <a:ext cx="44348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F8FAFC"/>
                </a:solidFill>
                <a:latin typeface="Plus Jakarta Sans"/>
              </a:rPr>
              <a:t>Responsible AI &amp; Security: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036FAB-3A66-190A-EF36-152881ABE4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064" y="475595"/>
            <a:ext cx="76200" cy="504825"/>
          </a:xfrm>
          <a:prstGeom prst="rect">
            <a:avLst/>
          </a:prstGeom>
        </p:spPr>
      </p:pic>
      <p:sp>
        <p:nvSpPr>
          <p:cNvPr id="6" name="Rounded Rectangle 3">
            <a:extLst>
              <a:ext uri="{FF2B5EF4-FFF2-40B4-BE49-F238E27FC236}">
                <a16:creationId xmlns:a16="http://schemas.microsoft.com/office/drawing/2014/main" id="{EACAED25-F7B4-8F6E-2F55-07DC35304E11}"/>
              </a:ext>
            </a:extLst>
          </p:cNvPr>
          <p:cNvSpPr/>
          <p:nvPr/>
        </p:nvSpPr>
        <p:spPr>
          <a:xfrm>
            <a:off x="379857" y="1600200"/>
            <a:ext cx="5324475" cy="4114800"/>
          </a:xfrm>
          <a:prstGeom prst="roundRect">
            <a:avLst>
              <a:gd name="adj" fmla="val 3448"/>
            </a:avLst>
          </a:prstGeom>
          <a:solidFill>
            <a:srgbClr val="1B2538"/>
          </a:solidFill>
          <a:ln w="9525">
            <a:solidFill>
              <a:srgbClr val="2A3243"/>
            </a:solidFill>
          </a:ln>
          <a:effectLst/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rgbClr val="34D399"/>
                </a:solidFill>
                <a:latin typeface="Plus Jakarta Sans"/>
              </a:rPr>
              <a:t>Privacy &amp; Edge Ethics </a:t>
            </a:r>
          </a:p>
          <a:p>
            <a:pPr algn="ctr"/>
            <a:endParaRPr lang="en-IN" sz="800" b="1" dirty="0">
              <a:solidFill>
                <a:srgbClr val="34D399"/>
              </a:solidFill>
              <a:latin typeface="Plus Jakarta Sans"/>
            </a:endParaRPr>
          </a:p>
          <a:p>
            <a:pPr algn="ctr"/>
            <a:r>
              <a:rPr lang="en-US" sz="2000" b="1" dirty="0">
                <a:solidFill>
                  <a:srgbClr val="E2E8F0"/>
                </a:solidFill>
                <a:latin typeface="Inter"/>
              </a:rPr>
              <a:t>On-Device Local Inference:</a:t>
            </a:r>
            <a:r>
              <a:rPr lang="en-US" sz="2000" dirty="0">
                <a:solidFill>
                  <a:srgbClr val="94A3B8"/>
                </a:solidFill>
                <a:latin typeface="Inter"/>
              </a:rPr>
              <a:t> IBM Granite models execute locally on campus edge hardware. No raw video streams leave the building or get stored on external cloud servers.</a:t>
            </a:r>
          </a:p>
          <a:p>
            <a:pPr algn="ctr"/>
            <a:endParaRPr lang="en-US" sz="2000" dirty="0">
              <a:solidFill>
                <a:srgbClr val="94A3B8"/>
              </a:solidFill>
              <a:latin typeface="Inter"/>
            </a:endParaRPr>
          </a:p>
          <a:p>
            <a:pPr algn="ctr"/>
            <a:r>
              <a:rPr lang="en-US" sz="2000" b="1" dirty="0">
                <a:solidFill>
                  <a:srgbClr val="E2E8F0"/>
                </a:solidFill>
                <a:latin typeface="Inter"/>
              </a:rPr>
              <a:t>Metadata Processing:</a:t>
            </a:r>
            <a:r>
              <a:rPr lang="en-US" sz="2000" dirty="0">
                <a:solidFill>
                  <a:srgbClr val="94A3B8"/>
                </a:solidFill>
                <a:latin typeface="Inter"/>
              </a:rPr>
              <a:t> Video frames are processed strictly in RAM and discarded immediately after occupancy inference to safeguard student and faculty privacy.</a:t>
            </a:r>
          </a:p>
          <a:p>
            <a:pPr algn="ctr"/>
            <a:endParaRPr lang="en-US" sz="2000" dirty="0">
              <a:solidFill>
                <a:srgbClr val="94A3B8"/>
              </a:solidFill>
              <a:latin typeface="Inter"/>
            </a:endParaRPr>
          </a:p>
          <a:p>
            <a:endParaRPr lang="en-IN" sz="2000" b="1" dirty="0">
              <a:solidFill>
                <a:srgbClr val="34D399"/>
              </a:solidFill>
              <a:latin typeface="Plus Jakarta Sans"/>
            </a:endParaRPr>
          </a:p>
        </p:txBody>
      </p:sp>
      <p:sp>
        <p:nvSpPr>
          <p:cNvPr id="8" name="Rounded Rectangle 4">
            <a:extLst>
              <a:ext uri="{FF2B5EF4-FFF2-40B4-BE49-F238E27FC236}">
                <a16:creationId xmlns:a16="http://schemas.microsoft.com/office/drawing/2014/main" id="{C2CCC945-A6B3-5C35-C3B6-1379599FB6AF}"/>
              </a:ext>
            </a:extLst>
          </p:cNvPr>
          <p:cNvSpPr/>
          <p:nvPr/>
        </p:nvSpPr>
        <p:spPr>
          <a:xfrm>
            <a:off x="6286500" y="1600200"/>
            <a:ext cx="5324475" cy="4114800"/>
          </a:xfrm>
          <a:prstGeom prst="roundRect">
            <a:avLst>
              <a:gd name="adj" fmla="val 3448"/>
            </a:avLst>
          </a:prstGeom>
          <a:solidFill>
            <a:srgbClr val="1B2538"/>
          </a:solidFill>
          <a:ln w="9525">
            <a:solidFill>
              <a:srgbClr val="2A3243"/>
            </a:solidFill>
          </a:ln>
          <a:effectLst/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rgbClr val="34D399"/>
                </a:solidFill>
                <a:latin typeface="Plus Jakarta Sans"/>
              </a:rPr>
              <a:t>Governance &amp; Security</a:t>
            </a:r>
          </a:p>
          <a:p>
            <a:pPr algn="ctr"/>
            <a:endParaRPr lang="en-IN" sz="2000" b="1" dirty="0">
              <a:solidFill>
                <a:srgbClr val="34D399"/>
              </a:solidFill>
              <a:latin typeface="Plus Jakarta Sans"/>
            </a:endParaRPr>
          </a:p>
          <a:p>
            <a:pPr algn="ctr"/>
            <a:r>
              <a:rPr lang="en-US" sz="2000" b="1" dirty="0">
                <a:solidFill>
                  <a:srgbClr val="E2E8F0"/>
                </a:solidFill>
                <a:latin typeface="Inter"/>
              </a:rPr>
              <a:t>TLS 1.3 MQTT Encryption:</a:t>
            </a:r>
            <a:r>
              <a:rPr lang="en-US" sz="2000" dirty="0">
                <a:solidFill>
                  <a:srgbClr val="94A3B8"/>
                </a:solidFill>
                <a:latin typeface="Inter"/>
              </a:rPr>
              <a:t> Relay control messaging runs over secure port 8883 with client certificates to prevent unauthorized switch overrides.</a:t>
            </a:r>
          </a:p>
          <a:p>
            <a:pPr algn="ctr"/>
            <a:endParaRPr lang="en-IN" sz="2000" b="1" dirty="0">
              <a:solidFill>
                <a:srgbClr val="34D399"/>
              </a:solidFill>
              <a:latin typeface="Plus Jakarta Sans"/>
            </a:endParaRPr>
          </a:p>
          <a:p>
            <a:pPr algn="ctr"/>
            <a:r>
              <a:rPr lang="en-US" sz="2000" b="1" dirty="0">
                <a:solidFill>
                  <a:srgbClr val="E2E8F0"/>
                </a:solidFill>
                <a:latin typeface="Inter"/>
              </a:rPr>
              <a:t>Audit Ledger Integrity:</a:t>
            </a:r>
            <a:r>
              <a:rPr lang="en-US" sz="2000" dirty="0">
                <a:solidFill>
                  <a:srgbClr val="94A3B8"/>
                </a:solidFill>
                <a:latin typeface="Inter"/>
              </a:rPr>
              <a:t> Credit allocations are written to an immutable database ledger with clear baseline validation rules to prevent manipulation.</a:t>
            </a:r>
          </a:p>
          <a:p>
            <a:pPr algn="ctr"/>
            <a:endParaRPr lang="en-IN" sz="2000" b="1" dirty="0">
              <a:solidFill>
                <a:srgbClr val="34D399"/>
              </a:solidFill>
              <a:latin typeface="Plus Jakarta Sans"/>
            </a:endParaRPr>
          </a:p>
        </p:txBody>
      </p:sp>
    </p:spTree>
    <p:extLst>
      <p:ext uri="{BB962C8B-B14F-4D97-AF65-F5344CB8AC3E}">
        <p14:creationId xmlns:p14="http://schemas.microsoft.com/office/powerpoint/2010/main" val="31936923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4F54BA-2FAD-0C0D-F5D0-6F97ABBFB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>
            <a:extLst>
              <a:ext uri="{FF2B5EF4-FFF2-40B4-BE49-F238E27FC236}">
                <a16:creationId xmlns:a16="http://schemas.microsoft.com/office/drawing/2014/main" id="{41118B38-45A1-9CFB-45D7-4EF58F3D83D0}"/>
              </a:ext>
            </a:extLst>
          </p:cNvPr>
          <p:cNvPicPr preferRelativeResize="0"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7767852" y="1524000"/>
            <a:ext cx="3995523" cy="463996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1F4EB81-B107-40AA-D3B3-1C19DB3CA963}"/>
              </a:ext>
            </a:extLst>
          </p:cNvPr>
          <p:cNvSpPr txBox="1"/>
          <p:nvPr/>
        </p:nvSpPr>
        <p:spPr>
          <a:xfrm>
            <a:off x="731520" y="232166"/>
            <a:ext cx="50170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F8FAFC"/>
                </a:solidFill>
                <a:latin typeface="Plus Jakarta Sans"/>
              </a:rPr>
              <a:t>Expected Impact &amp; Value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FBF422B-46C3-29AD-97BF-911D9FA66A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20" y="274427"/>
            <a:ext cx="76200" cy="5048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FB9F4C3-007F-9D94-FF88-2B107F96BE03}"/>
              </a:ext>
            </a:extLst>
          </p:cNvPr>
          <p:cNvSpPr txBox="1"/>
          <p:nvPr/>
        </p:nvSpPr>
        <p:spPr>
          <a:xfrm>
            <a:off x="544449" y="2251794"/>
            <a:ext cx="6679311" cy="25545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800" b="1" i="0" u="none" dirty="0">
                <a:solidFill>
                  <a:srgbClr val="34D399"/>
                </a:solidFill>
                <a:latin typeface="Plus Jakarta Sans"/>
              </a:rPr>
              <a:t>Transforming Campus Sustainability</a:t>
            </a:r>
            <a:endParaRPr lang="en-IN" sz="2800" b="1" i="0" u="none" dirty="0">
              <a:solidFill>
                <a:srgbClr val="34D399"/>
              </a:solidFill>
              <a:latin typeface="Plus Jakarta Sans"/>
            </a:endParaRPr>
          </a:p>
          <a:p>
            <a:pPr algn="ctr"/>
            <a:endParaRPr lang="en-IN" sz="1000" b="1" i="0" u="none" dirty="0">
              <a:solidFill>
                <a:srgbClr val="34D399"/>
              </a:solidFill>
              <a:latin typeface="Plus Jakarta Sans"/>
            </a:endParaRPr>
          </a:p>
          <a:p>
            <a:pPr algn="ctr"/>
            <a:r>
              <a:rPr lang="en-US" b="1" dirty="0">
                <a:solidFill>
                  <a:schemeClr val="accent2"/>
                </a:solidFill>
                <a:latin typeface="Inter"/>
              </a:rPr>
              <a:t>25% Energy Waste Cut</a:t>
            </a:r>
            <a:r>
              <a:rPr lang="en-US" b="1" dirty="0">
                <a:latin typeface="Inter"/>
              </a:rPr>
              <a:t>:</a:t>
            </a:r>
            <a:r>
              <a:rPr lang="en-US" dirty="0">
                <a:latin typeface="Inter"/>
              </a:rPr>
              <a:t> Automated relay triggers prevent unattended lighting and HVAC power draw during off-peak hours</a:t>
            </a:r>
            <a:r>
              <a:rPr lang="en-US" dirty="0">
                <a:solidFill>
                  <a:srgbClr val="94A3B8"/>
                </a:solidFill>
                <a:latin typeface="Inter"/>
              </a:rPr>
              <a:t>.</a:t>
            </a:r>
          </a:p>
          <a:p>
            <a:pPr algn="ctr"/>
            <a:endParaRPr lang="en-US" sz="1000" dirty="0">
              <a:solidFill>
                <a:srgbClr val="94A3B8"/>
              </a:solidFill>
              <a:latin typeface="Inter"/>
            </a:endParaRPr>
          </a:p>
          <a:p>
            <a:pPr algn="ctr"/>
            <a:r>
              <a:rPr lang="en-US" b="1" dirty="0">
                <a:solidFill>
                  <a:schemeClr val="accent3"/>
                </a:solidFill>
                <a:latin typeface="Inter"/>
              </a:rPr>
              <a:t>Departmental Empowerment:</a:t>
            </a:r>
            <a:r>
              <a:rPr lang="en-US" dirty="0">
                <a:solidFill>
                  <a:schemeClr val="accent3"/>
                </a:solidFill>
                <a:latin typeface="Inter"/>
              </a:rPr>
              <a:t> </a:t>
            </a:r>
            <a:r>
              <a:rPr lang="en-US" dirty="0">
                <a:latin typeface="Inter"/>
              </a:rPr>
              <a:t>HODs receive actionable daily summaries and earn credits for campus eco-gear rewards</a:t>
            </a:r>
            <a:r>
              <a:rPr lang="en-US" dirty="0">
                <a:solidFill>
                  <a:srgbClr val="94A3B8"/>
                </a:solidFill>
                <a:latin typeface="Inter"/>
              </a:rPr>
              <a:t>.</a:t>
            </a:r>
          </a:p>
          <a:p>
            <a:pPr algn="ctr"/>
            <a:endParaRPr lang="en-US" sz="1000" dirty="0">
              <a:solidFill>
                <a:srgbClr val="94A3B8"/>
              </a:solidFill>
              <a:latin typeface="Inter"/>
            </a:endParaRPr>
          </a:p>
          <a:p>
            <a:pPr algn="ctr"/>
            <a:r>
              <a:rPr lang="en-US" b="1" dirty="0">
                <a:solidFill>
                  <a:schemeClr val="accent2"/>
                </a:solidFill>
                <a:latin typeface="Inter"/>
              </a:rPr>
              <a:t>Scalable Edge Model:</a:t>
            </a:r>
            <a:r>
              <a:rPr lang="en-US" dirty="0">
                <a:solidFill>
                  <a:schemeClr val="accent2"/>
                </a:solidFill>
                <a:latin typeface="Inter"/>
              </a:rPr>
              <a:t> </a:t>
            </a:r>
            <a:r>
              <a:rPr lang="en-US" dirty="0">
                <a:latin typeface="Inter"/>
              </a:rPr>
              <a:t>Built on IBM Granite for cost-effective deployment across university buildings.</a:t>
            </a:r>
            <a:endParaRPr lang="en-US" dirty="0">
              <a:solidFill>
                <a:srgbClr val="94A3B8"/>
              </a:solidFill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32096556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6B3DF8-BC50-070C-F21F-2970232B9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EC1B788-463B-B3BC-D711-630408327FC0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844" y="905256"/>
            <a:ext cx="11642312" cy="583387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E450C85-5450-34B6-28CD-A25B867CD4FB}"/>
              </a:ext>
            </a:extLst>
          </p:cNvPr>
          <p:cNvSpPr txBox="1"/>
          <p:nvPr/>
        </p:nvSpPr>
        <p:spPr>
          <a:xfrm>
            <a:off x="731520" y="232166"/>
            <a:ext cx="50170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F8FAFC"/>
                </a:solidFill>
                <a:latin typeface="Plus Jakarta Sans"/>
              </a:rPr>
              <a:t>Project Visuals :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54FAE77-E985-256D-0F59-6748C62F4C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20" y="274427"/>
            <a:ext cx="76200" cy="50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0381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FF55C-50DF-CD09-33B6-8112E03AE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00DC0048-B15A-4F54-0C42-961EED34A208}"/>
              </a:ext>
            </a:extLst>
          </p:cNvPr>
          <p:cNvSpPr txBox="1"/>
          <p:nvPr/>
        </p:nvSpPr>
        <p:spPr>
          <a:xfrm>
            <a:off x="731520" y="232166"/>
            <a:ext cx="50170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F8FAFC"/>
                </a:solidFill>
                <a:latin typeface="Plus Jakarta Sans"/>
              </a:rPr>
              <a:t>Project Visuals :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0198DCE-A1BE-A99D-582C-4358EA3B9D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420" y="274427"/>
            <a:ext cx="76200" cy="50482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DA1CD45-5CFD-37F9-7E19-6D93319C53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896" y="1181332"/>
            <a:ext cx="11585448" cy="5444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8875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AA10E3-3CC9-333D-48B3-7177298D7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2182A64-4E78-0F0B-7752-E31ACBCF7D63}"/>
              </a:ext>
            </a:extLst>
          </p:cNvPr>
          <p:cNvSpPr txBox="1"/>
          <p:nvPr/>
        </p:nvSpPr>
        <p:spPr>
          <a:xfrm>
            <a:off x="769620" y="232166"/>
            <a:ext cx="50170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F8FAFC"/>
                </a:solidFill>
                <a:latin typeface="Plus Jakarta Sans"/>
              </a:rPr>
              <a:t>Project Visuals 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EC833E-5966-2C94-A212-6977BCB226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420" y="232166"/>
            <a:ext cx="76200" cy="5048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67372D3-4A37-11CD-6457-EB6AB7A773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272" y="919978"/>
            <a:ext cx="10933176" cy="5705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78840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12008C-FCFC-9021-BD56-5300AA69B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CF24886-E656-E741-9119-494A69710249}"/>
              </a:ext>
            </a:extLst>
          </p:cNvPr>
          <p:cNvSpPr txBox="1"/>
          <p:nvPr/>
        </p:nvSpPr>
        <p:spPr>
          <a:xfrm>
            <a:off x="731520" y="232166"/>
            <a:ext cx="50170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F8FAFC"/>
                </a:solidFill>
                <a:latin typeface="Plus Jakarta Sans"/>
              </a:rPr>
              <a:t>Project Visuals :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DAB4089-11FC-81B4-89BE-5207EF4ED5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128" y="250561"/>
            <a:ext cx="76200" cy="50482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8780D98-C674-B815-CE2F-4994362DA3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392" y="978408"/>
            <a:ext cx="11461029" cy="5647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71950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0475B8-3C06-13A0-C0A7-0B2FDD3EE3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887FF456-744A-7610-040B-0A9EA97DC1CD}"/>
              </a:ext>
            </a:extLst>
          </p:cNvPr>
          <p:cNvSpPr txBox="1"/>
          <p:nvPr/>
        </p:nvSpPr>
        <p:spPr>
          <a:xfrm>
            <a:off x="769620" y="232166"/>
            <a:ext cx="50170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F8FAFC"/>
                </a:solidFill>
                <a:latin typeface="Plus Jakarta Sans"/>
              </a:rPr>
              <a:t>Model Used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71958EA2-52AD-2A9E-E806-986E30D9CA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128" y="250561"/>
            <a:ext cx="76200" cy="50482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95AB01ED-42FA-FAA6-6137-B71BDAE6BF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336" y="1261658"/>
            <a:ext cx="11576304" cy="5446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56799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20EC85-F8BF-8AA1-BF99-0F4F4C23E2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F2A966B-4480-30B8-366F-BDE161DA5553}"/>
              </a:ext>
            </a:extLst>
          </p:cNvPr>
          <p:cNvSpPr txBox="1"/>
          <p:nvPr/>
        </p:nvSpPr>
        <p:spPr>
          <a:xfrm>
            <a:off x="731520" y="232166"/>
            <a:ext cx="50170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F8FAFC"/>
                </a:solidFill>
                <a:latin typeface="Plus Jakarta Sans"/>
              </a:rPr>
              <a:t>Github Link: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3482A8B-B3BC-6452-80B2-EC95BBC826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320" y="250561"/>
            <a:ext cx="76200" cy="50482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CA62F68-6226-7A67-4747-2FC9623ADC68}"/>
              </a:ext>
            </a:extLst>
          </p:cNvPr>
          <p:cNvSpPr txBox="1"/>
          <p:nvPr/>
        </p:nvSpPr>
        <p:spPr>
          <a:xfrm>
            <a:off x="2331720" y="2567225"/>
            <a:ext cx="801928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https://github.com/prashantraiparshu83-ai/1M-B-Eco-Pulse-Energy-Intelligence-</a:t>
            </a:r>
          </a:p>
        </p:txBody>
      </p:sp>
    </p:spTree>
    <p:extLst>
      <p:ext uri="{BB962C8B-B14F-4D97-AF65-F5344CB8AC3E}">
        <p14:creationId xmlns:p14="http://schemas.microsoft.com/office/powerpoint/2010/main" val="328178830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214</TotalTime>
  <Words>712</Words>
  <Application>Microsoft Office PowerPoint</Application>
  <PresentationFormat>Widescreen</PresentationFormat>
  <Paragraphs>79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6" baseType="lpstr">
      <vt:lpstr>Arial</vt:lpstr>
      <vt:lpstr>Arial Rounded MT Bold</vt:lpstr>
      <vt:lpstr>Bodoni MT</vt:lpstr>
      <vt:lpstr>Calibri</vt:lpstr>
      <vt:lpstr>Century Gothic</vt:lpstr>
      <vt:lpstr>Century Gothic (body)</vt:lpstr>
      <vt:lpstr>Franklin Gothic Heavy</vt:lpstr>
      <vt:lpstr>Inter</vt:lpstr>
      <vt:lpstr>Plus Jakarta Sans</vt:lpstr>
      <vt:lpstr>Wingdings</vt:lpstr>
      <vt:lpstr>Wingdings 3</vt:lpstr>
      <vt:lpstr>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Prashant Rai</dc:creator>
  <cp:lastModifiedBy>Prashant Rai</cp:lastModifiedBy>
  <cp:revision>6</cp:revision>
  <dcterms:created xsi:type="dcterms:W3CDTF">2026-09-20T15:10:21Z</dcterms:created>
  <dcterms:modified xsi:type="dcterms:W3CDTF">2026-09-21T05:32:40Z</dcterms:modified>
</cp:coreProperties>
</file>